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754"/>
  </p:normalViewPr>
  <p:slideViewPr>
    <p:cSldViewPr snapToGrid="0">
      <p:cViewPr varScale="1">
        <p:scale>
          <a:sx n="99" d="100"/>
          <a:sy n="99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BB757-D6FF-1260-C05C-6E7FA8508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0326F-D390-B4BD-2B14-5D7F4AD7D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4FA2-1BCB-0E6D-364A-A38787E33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8151E-CB54-E522-2BE4-52E10206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378CF-B30F-AF70-FC98-854FA26B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3748-3AF8-8293-04DB-3C871960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21CE7-AA7A-E9AE-3C2C-ED4045985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6D128-87E6-36F2-716C-2C77DBFE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43FB2-3E4E-FFE9-EB8F-1B910DE0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D4A86-0356-81C5-303E-29BB14B5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0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AEA5-DBAE-5757-386F-9157C4B6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D8D60-D152-A2C5-B251-819C97394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4C722-81C9-D5CA-5511-43F47A5B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D956-1170-2886-19C1-B900B654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D581D-5FFC-F000-64A6-A0D96D4A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1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CA32-E824-F265-D91F-5B595396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6FB94-5757-8B10-3212-45D2DED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B5ABD-2C13-750F-6742-855CA5C83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60254-445E-DCB3-83DA-75B4745D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EF267-F96F-7112-BD40-7E2A4B83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EE0CA-F688-DFFC-EBF8-B79E64A9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7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6854-3601-1D28-4848-315C9C45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55B74-5615-CB97-7B7B-DA7885912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DB374-EFE1-15EB-383F-B4CC0B719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02A15-F7BC-8E92-2DAC-5D175D76D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D8B06-A048-8470-F8FE-A614E825B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F82CDF-BE6B-6DF7-5939-A25A64FB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B9C03-3FFF-0305-2619-0C5F83F33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69A0E-DF53-D8CB-BB91-7EAB13DB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4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B2DA-EACB-0FAF-814E-D3C1CAAC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0129D-8CAA-F4CA-AF91-348C8B7E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66E86-0D45-DE08-5A89-16BC827D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98C08-72FA-982A-737F-E4E8012A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9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7F944C-2DF7-2C31-F59D-E557349C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9E568-9BE7-B815-9E0C-B1108989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97ADE-E185-7349-1E93-CC722BC0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1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4A55-4190-4A01-7DDB-BD3A2D68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FF64-789E-1565-E71E-7AF51C8CD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0536C-0B5D-3FED-1884-92A3FE316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B9B58-730D-EDA8-8765-3631A46B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D07A-9656-36B4-A4C3-1DBE287E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26920-B04A-4127-AD14-A715FE198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5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6C6B-E671-3909-2219-D2CC760A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699241-135F-4DE1-5F95-E7180E9A0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CD3B5-B56D-3516-6E7E-DBB392B0C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66585-FC82-82DD-B771-C0D65A34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964D2-8B6B-DED7-72CF-8B014A8D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38C16-9DE2-2CF1-7068-C6AADE9B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7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A983-A126-A2E5-7745-E8E3DFF7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3506D-AA25-78C4-512C-7891227D2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E4C9-CB2B-BA49-3649-669641CA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707B3-AA45-A601-1495-04B5C0D14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C5063-54B8-9864-C45F-0B315733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09382-62D1-2C7E-F95A-78877867A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25E3D-9175-5401-9B6E-03C07D95E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E694B-5473-415D-6DF0-69711C7BE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8B49D-4D85-A3E5-1D7A-8C38406D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84681-E258-08B8-B2C8-E6513CAB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1249A-47DF-DA4C-CABC-4AC72B4D3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6846B-3A4A-A438-3179-6815AF5FF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0E9AA-52D0-00F6-241F-9D61BFF0E0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71B9C-B733-234A-A950-2D3C27B9541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3D70E-AEBB-B092-7519-B8174FD38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13581-92C9-DD4E-DD53-F5FF86D8F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10E42-100F-234F-BFAE-9F8642F9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5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5EDE-83FF-8917-980A-CCA310206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Alternative statistical handling of ASV data for USVI spatiotemporal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17EF0-3197-7106-A48B-8E656BE21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Sharon Grim</a:t>
            </a:r>
          </a:p>
          <a:p>
            <a:r>
              <a:rPr lang="en-US" dirty="0"/>
              <a:t>April 20, 2026</a:t>
            </a:r>
          </a:p>
        </p:txBody>
      </p:sp>
    </p:spTree>
    <p:extLst>
      <p:ext uri="{BB962C8B-B14F-4D97-AF65-F5344CB8AC3E}">
        <p14:creationId xmlns:p14="http://schemas.microsoft.com/office/powerpoint/2010/main" val="145902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4C4F-4128-DE54-6E0C-9FD9F798F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93ED-0ABF-86BD-A7EC-152E2B383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16S rRNA gene V4 amplicon ASV dataset from </a:t>
            </a:r>
            <a:r>
              <a:rPr lang="en-US" dirty="0" err="1"/>
              <a:t>Lameshur</a:t>
            </a:r>
            <a:r>
              <a:rPr lang="en-US" dirty="0"/>
              <a:t> Bay Seagrass, Tektite Reef, and </a:t>
            </a:r>
            <a:r>
              <a:rPr lang="en-US" dirty="0" err="1"/>
              <a:t>Yawzi</a:t>
            </a:r>
            <a:r>
              <a:rPr lang="en-US" dirty="0"/>
              <a:t> Reef was initially processed for analyses:</a:t>
            </a:r>
          </a:p>
          <a:p>
            <a:pPr lvl="1"/>
            <a:r>
              <a:rPr lang="en-US" dirty="0"/>
              <a:t>ASV counts were transformed into relative abundances per sample, so that each sample had a 100% total relative abundance of bacterial ASVs.</a:t>
            </a:r>
          </a:p>
          <a:p>
            <a:pPr lvl="1"/>
            <a:r>
              <a:rPr lang="en-US" dirty="0" err="1"/>
              <a:t>Morisita</a:t>
            </a:r>
            <a:r>
              <a:rPr lang="en-US" dirty="0"/>
              <a:t>-Horn dissimilarities were calculated between samples’ relative abundances of ASVs for NMDS, beta dispersions, etc.</a:t>
            </a:r>
          </a:p>
          <a:p>
            <a:pPr lvl="1"/>
            <a:r>
              <a:rPr lang="en-US" dirty="0"/>
              <a:t>Differential abundance and correlation testing was conducted on relative abundances of ASVs.</a:t>
            </a:r>
          </a:p>
        </p:txBody>
      </p:sp>
    </p:spTree>
    <p:extLst>
      <p:ext uri="{BB962C8B-B14F-4D97-AF65-F5344CB8AC3E}">
        <p14:creationId xmlns:p14="http://schemas.microsoft.com/office/powerpoint/2010/main" val="15803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8A05-6A38-901C-7C12-CDA5A020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from reviewers recommended alternative data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25E9-62A7-650C-1D13-2111280BF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Reviewer recommended centered-log-ratio transformation for ASVs.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short answer: this does not work as well as </a:t>
            </a:r>
            <a:r>
              <a:rPr lang="en-US" b="1" dirty="0" err="1">
                <a:solidFill>
                  <a:srgbClr val="0070C0"/>
                </a:solidFill>
              </a:rPr>
              <a:t>rCLR</a:t>
            </a:r>
            <a:r>
              <a:rPr lang="en-US" b="1" dirty="0">
                <a:solidFill>
                  <a:srgbClr val="0070C0"/>
                </a:solidFill>
              </a:rPr>
              <a:t> or keeping original analyses because…</a:t>
            </a:r>
          </a:p>
          <a:p>
            <a:r>
              <a:rPr lang="en-US" dirty="0"/>
              <a:t>Reviewer suggested biplot presentation for ASVs overlaid on NMDS.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short answer: only with relative abundance input data, could I get NMDS results for the ASVs</a:t>
            </a:r>
          </a:p>
          <a:p>
            <a:r>
              <a:rPr lang="en-US" dirty="0"/>
              <a:t>Does a CLR-transformed ASV table generate similar results in NMDS? PERMANOVA? </a:t>
            </a:r>
            <a:r>
              <a:rPr lang="en-US" sz="1800" i="1" dirty="0"/>
              <a:t>Differential abundance testing? Correlation analyses?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Short answer: ordination changes a little with a different transformation. PERMANOVA is still robust. </a:t>
            </a:r>
          </a:p>
        </p:txBody>
      </p:sp>
    </p:spTree>
    <p:extLst>
      <p:ext uri="{BB962C8B-B14F-4D97-AF65-F5344CB8AC3E}">
        <p14:creationId xmlns:p14="http://schemas.microsoft.com/office/powerpoint/2010/main" val="1558721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2505-58BF-B0F0-0360-23B36E28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Compare NMDS results from different data transformations and dissimilarity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B8A81-2303-4F57-FBEE-CD2202A8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Six data transformations explored:</a:t>
            </a:r>
          </a:p>
          <a:p>
            <a:pPr lvl="1"/>
            <a:r>
              <a:rPr lang="en-US" dirty="0"/>
              <a:t>Raw counts</a:t>
            </a:r>
          </a:p>
          <a:p>
            <a:pPr lvl="2"/>
            <a:r>
              <a:rPr lang="en-US" dirty="0"/>
              <a:t>centered-log-ratio + 1.0 </a:t>
            </a:r>
            <a:r>
              <a:rPr lang="en-US" dirty="0" err="1"/>
              <a:t>pseudocount</a:t>
            </a:r>
            <a:r>
              <a:rPr lang="en-US" dirty="0"/>
              <a:t> (CLR)</a:t>
            </a:r>
          </a:p>
          <a:p>
            <a:pPr lvl="2"/>
            <a:r>
              <a:rPr lang="en-US" dirty="0"/>
              <a:t>robust centered-log-ratio (</a:t>
            </a:r>
            <a:r>
              <a:rPr lang="en-US" dirty="0" err="1"/>
              <a:t>rCLR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Relative abundance</a:t>
            </a:r>
          </a:p>
          <a:p>
            <a:pPr lvl="2"/>
            <a:r>
              <a:rPr lang="en-US" dirty="0"/>
              <a:t>centered-log-ratio* + 0.1 </a:t>
            </a:r>
            <a:r>
              <a:rPr lang="en-US" dirty="0" err="1"/>
              <a:t>pseudocount</a:t>
            </a:r>
            <a:r>
              <a:rPr lang="en-US" dirty="0"/>
              <a:t> </a:t>
            </a:r>
            <a:r>
              <a:rPr lang="en-US" sz="1600" i="1" dirty="0"/>
              <a:t>(this doesn’t seem necessary, but for thoroughness I transformed anyway)</a:t>
            </a:r>
            <a:endParaRPr lang="en-US" i="1" dirty="0"/>
          </a:p>
          <a:p>
            <a:pPr lvl="2"/>
            <a:r>
              <a:rPr lang="en-US" dirty="0"/>
              <a:t>robust centered-log-ratio* </a:t>
            </a:r>
            <a:r>
              <a:rPr lang="en-US" sz="1500" i="1" dirty="0"/>
              <a:t>(see above note)</a:t>
            </a:r>
            <a:endParaRPr lang="en-US" i="1" dirty="0"/>
          </a:p>
          <a:p>
            <a:r>
              <a:rPr lang="en-US" dirty="0"/>
              <a:t>Four dissimilarity metrics</a:t>
            </a:r>
          </a:p>
          <a:p>
            <a:pPr lvl="1"/>
            <a:r>
              <a:rPr lang="en-US" dirty="0"/>
              <a:t>Euclidean </a:t>
            </a:r>
            <a:r>
              <a:rPr lang="en-US" sz="1400" i="1" dirty="0"/>
              <a:t>(recommended for CLR and </a:t>
            </a:r>
            <a:r>
              <a:rPr lang="en-US" sz="1400" i="1" dirty="0" err="1"/>
              <a:t>rCLR</a:t>
            </a:r>
            <a:r>
              <a:rPr lang="en-US" sz="1400" i="1" dirty="0"/>
              <a:t>)</a:t>
            </a:r>
            <a:r>
              <a:rPr lang="en-US" dirty="0"/>
              <a:t>, Bray-Curtis, </a:t>
            </a:r>
            <a:r>
              <a:rPr lang="en-US" dirty="0" err="1"/>
              <a:t>Morisita</a:t>
            </a:r>
            <a:r>
              <a:rPr lang="en-US" dirty="0"/>
              <a:t>-Horn, Chord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Not all combinations of (data transformation):(dissimilarity metric) were examined, due to methodological limitations.</a:t>
            </a:r>
          </a:p>
        </p:txBody>
      </p:sp>
    </p:spTree>
    <p:extLst>
      <p:ext uri="{BB962C8B-B14F-4D97-AF65-F5344CB8AC3E}">
        <p14:creationId xmlns:p14="http://schemas.microsoft.com/office/powerpoint/2010/main" val="2505063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BAD0-2231-13B7-C9AE-AEE4650D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CLR sucks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612712-A885-037F-09F8-58FD840C1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568695"/>
              </p:ext>
            </p:extLst>
          </p:nvPr>
        </p:nvGraphicFramePr>
        <p:xfrm>
          <a:off x="450763" y="1423118"/>
          <a:ext cx="11397799" cy="3606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296989">
                  <a:extLst>
                    <a:ext uri="{9D8B030D-6E8A-4147-A177-3AD203B41FA5}">
                      <a16:colId xmlns:a16="http://schemas.microsoft.com/office/drawing/2014/main" val="3075422137"/>
                    </a:ext>
                  </a:extLst>
                </a:gridCol>
                <a:gridCol w="2163651">
                  <a:extLst>
                    <a:ext uri="{9D8B030D-6E8A-4147-A177-3AD203B41FA5}">
                      <a16:colId xmlns:a16="http://schemas.microsoft.com/office/drawing/2014/main" val="820745678"/>
                    </a:ext>
                  </a:extLst>
                </a:gridCol>
                <a:gridCol w="1429555">
                  <a:extLst>
                    <a:ext uri="{9D8B030D-6E8A-4147-A177-3AD203B41FA5}">
                      <a16:colId xmlns:a16="http://schemas.microsoft.com/office/drawing/2014/main" val="2546613832"/>
                    </a:ext>
                  </a:extLst>
                </a:gridCol>
                <a:gridCol w="3452339">
                  <a:extLst>
                    <a:ext uri="{9D8B030D-6E8A-4147-A177-3AD203B41FA5}">
                      <a16:colId xmlns:a16="http://schemas.microsoft.com/office/drawing/2014/main" val="149839803"/>
                    </a:ext>
                  </a:extLst>
                </a:gridCol>
                <a:gridCol w="1055265">
                  <a:extLst>
                    <a:ext uri="{9D8B030D-6E8A-4147-A177-3AD203B41FA5}">
                      <a16:colId xmlns:a16="http://schemas.microsoft.com/office/drawing/2014/main" val="18766594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model attempts to reach convergence (max: 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Figure panel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241938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CLR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Chord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253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381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Bray-Curtis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8463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Morisita</a:t>
                      </a:r>
                      <a:r>
                        <a:rPr lang="en-US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787282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dirty="0"/>
                        <a:t>Relative abundance + CLR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Chord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1056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69044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Morisita</a:t>
                      </a:r>
                      <a:r>
                        <a:rPr lang="en-US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13888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Bray-Curtis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8751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EC1BFC-B332-E3A0-B4DE-56D42859BB5A}"/>
              </a:ext>
            </a:extLst>
          </p:cNvPr>
          <p:cNvSpPr txBox="1"/>
          <p:nvPr/>
        </p:nvSpPr>
        <p:spPr>
          <a:xfrm>
            <a:off x="5951113" y="5250216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/>
              <a:t>Lower stress = better model fit</a:t>
            </a:r>
          </a:p>
        </p:txBody>
      </p:sp>
    </p:spTree>
    <p:extLst>
      <p:ext uri="{BB962C8B-B14F-4D97-AF65-F5344CB8AC3E}">
        <p14:creationId xmlns:p14="http://schemas.microsoft.com/office/powerpoint/2010/main" val="1697521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43785-3375-4C13-BA61-91BAD3C52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rCLR</a:t>
            </a:r>
            <a:r>
              <a:rPr lang="en-US" dirty="0"/>
              <a:t> + Euclidean distance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FAD3C44-0058-B1FE-060D-A2B8DDDC31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694202"/>
              </p:ext>
            </p:extLst>
          </p:nvPr>
        </p:nvGraphicFramePr>
        <p:xfrm>
          <a:off x="514235" y="1816875"/>
          <a:ext cx="11076753" cy="3235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130486">
                  <a:extLst>
                    <a:ext uri="{9D8B030D-6E8A-4147-A177-3AD203B41FA5}">
                      <a16:colId xmlns:a16="http://schemas.microsoft.com/office/drawing/2014/main" val="3075422137"/>
                    </a:ext>
                  </a:extLst>
                </a:gridCol>
                <a:gridCol w="2537138">
                  <a:extLst>
                    <a:ext uri="{9D8B030D-6E8A-4147-A177-3AD203B41FA5}">
                      <a16:colId xmlns:a16="http://schemas.microsoft.com/office/drawing/2014/main" val="820745678"/>
                    </a:ext>
                  </a:extLst>
                </a:gridCol>
                <a:gridCol w="1120462">
                  <a:extLst>
                    <a:ext uri="{9D8B030D-6E8A-4147-A177-3AD203B41FA5}">
                      <a16:colId xmlns:a16="http://schemas.microsoft.com/office/drawing/2014/main" val="2546613832"/>
                    </a:ext>
                  </a:extLst>
                </a:gridCol>
                <a:gridCol w="3281615">
                  <a:extLst>
                    <a:ext uri="{9D8B030D-6E8A-4147-A177-3AD203B41FA5}">
                      <a16:colId xmlns:a16="http://schemas.microsoft.com/office/drawing/2014/main" val="149839803"/>
                    </a:ext>
                  </a:extLst>
                </a:gridCol>
                <a:gridCol w="1007052">
                  <a:extLst>
                    <a:ext uri="{9D8B030D-6E8A-4147-A177-3AD203B41FA5}">
                      <a16:colId xmlns:a16="http://schemas.microsoft.com/office/drawing/2014/main" val="2590431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model attempts to reach convergence (max: 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Figure panel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24193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dirty="0"/>
                        <a:t>Relative abundance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Morisita</a:t>
                      </a:r>
                      <a:r>
                        <a:rPr lang="en-US" b="1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0.075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545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Bray-Curtis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1216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8094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 err="1"/>
                        <a:t>rCLR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2532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Morisita</a:t>
                      </a:r>
                      <a:r>
                        <a:rPr lang="en-US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78728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Relative abundance + </a:t>
                      </a:r>
                      <a:r>
                        <a:rPr lang="en-US" dirty="0" err="1"/>
                        <a:t>rCLR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10567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Morisita</a:t>
                      </a:r>
                      <a:r>
                        <a:rPr lang="en-US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87512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8B90889-3DB5-57C2-0D0C-1D793247CA3C}"/>
              </a:ext>
            </a:extLst>
          </p:cNvPr>
          <p:cNvSpPr txBox="1"/>
          <p:nvPr/>
        </p:nvSpPr>
        <p:spPr>
          <a:xfrm>
            <a:off x="5951113" y="5250216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/>
              <a:t>Lower stress = better model fit</a:t>
            </a:r>
          </a:p>
        </p:txBody>
      </p:sp>
    </p:spTree>
    <p:extLst>
      <p:ext uri="{BB962C8B-B14F-4D97-AF65-F5344CB8AC3E}">
        <p14:creationId xmlns:p14="http://schemas.microsoft.com/office/powerpoint/2010/main" val="412554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4E2533-5180-E1F0-0F9F-DF857D1E4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7779" y="117385"/>
            <a:ext cx="10597166" cy="66232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3FEAB1-6731-8701-759B-555A54CEF0A0}"/>
              </a:ext>
            </a:extLst>
          </p:cNvPr>
          <p:cNvSpPr txBox="1"/>
          <p:nvPr/>
        </p:nvSpPr>
        <p:spPr>
          <a:xfrm>
            <a:off x="7318420" y="5821251"/>
            <a:ext cx="3656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/>
              <a:t>Lower stress = better model fit</a:t>
            </a:r>
          </a:p>
        </p:txBody>
      </p:sp>
    </p:spTree>
    <p:extLst>
      <p:ext uri="{BB962C8B-B14F-4D97-AF65-F5344CB8AC3E}">
        <p14:creationId xmlns:p14="http://schemas.microsoft.com/office/powerpoint/2010/main" val="240401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274D-FFDC-00EC-B95E-7616EC234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significant differences in ordinations: Procrustes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6FE1E-5FE7-5DB5-EDAB-98337081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“When comparing two ordinations based on data from the same sample units: orient them so that sample units from the same group are in the same relative location.  Procrustes analysis is one method to do so.”</a:t>
            </a:r>
          </a:p>
          <a:p>
            <a:r>
              <a:rPr lang="en-US" dirty="0"/>
              <a:t>Two ordinations are considered similar when the Procrustes result has lower Sum of Squares (SS), higher correlation (t0), and significant test result (p &lt; 0.05).</a:t>
            </a:r>
          </a:p>
        </p:txBody>
      </p:sp>
    </p:spTree>
    <p:extLst>
      <p:ext uri="{BB962C8B-B14F-4D97-AF65-F5344CB8AC3E}">
        <p14:creationId xmlns:p14="http://schemas.microsoft.com/office/powerpoint/2010/main" val="306081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F1D5D1-FA3B-6FFF-A7E7-3DA897CB0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Curated Procrustes 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F88CFD-F917-431B-52D2-6AE043CA0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079263"/>
              </p:ext>
            </p:extLst>
          </p:nvPr>
        </p:nvGraphicFramePr>
        <p:xfrm>
          <a:off x="838199" y="1983346"/>
          <a:ext cx="10515599" cy="4057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874">
                  <a:extLst>
                    <a:ext uri="{9D8B030D-6E8A-4147-A177-3AD203B41FA5}">
                      <a16:colId xmlns:a16="http://schemas.microsoft.com/office/drawing/2014/main" val="3397416345"/>
                    </a:ext>
                  </a:extLst>
                </a:gridCol>
                <a:gridCol w="3296992">
                  <a:extLst>
                    <a:ext uri="{9D8B030D-6E8A-4147-A177-3AD203B41FA5}">
                      <a16:colId xmlns:a16="http://schemas.microsoft.com/office/drawing/2014/main" val="1242535747"/>
                    </a:ext>
                  </a:extLst>
                </a:gridCol>
                <a:gridCol w="2833352">
                  <a:extLst>
                    <a:ext uri="{9D8B030D-6E8A-4147-A177-3AD203B41FA5}">
                      <a16:colId xmlns:a16="http://schemas.microsoft.com/office/drawing/2014/main" val="4113293744"/>
                    </a:ext>
                  </a:extLst>
                </a:gridCol>
                <a:gridCol w="1017431">
                  <a:extLst>
                    <a:ext uri="{9D8B030D-6E8A-4147-A177-3AD203B41FA5}">
                      <a16:colId xmlns:a16="http://schemas.microsoft.com/office/drawing/2014/main" val="722672477"/>
                    </a:ext>
                  </a:extLst>
                </a:gridCol>
                <a:gridCol w="850006">
                  <a:extLst>
                    <a:ext uri="{9D8B030D-6E8A-4147-A177-3AD203B41FA5}">
                      <a16:colId xmlns:a16="http://schemas.microsoft.com/office/drawing/2014/main" val="3644329780"/>
                    </a:ext>
                  </a:extLst>
                </a:gridCol>
                <a:gridCol w="1449944">
                  <a:extLst>
                    <a:ext uri="{9D8B030D-6E8A-4147-A177-3AD203B41FA5}">
                      <a16:colId xmlns:a16="http://schemas.microsoft.com/office/drawing/2014/main" val="1459627498"/>
                    </a:ext>
                  </a:extLst>
                </a:gridCol>
              </a:tblGrid>
              <a:tr h="431724">
                <a:tc>
                  <a:txBody>
                    <a:bodyPr/>
                    <a:lstStyle/>
                    <a:p>
                      <a:r>
                        <a:rPr lang="en-US" dirty="0"/>
                        <a:t>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Ordination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Ordination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824655"/>
                  </a:ext>
                </a:extLst>
              </a:tr>
              <a:tr h="106452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Relative abundance + </a:t>
                      </a:r>
                      <a:r>
                        <a:rPr lang="en-US" dirty="0" err="1"/>
                        <a:t>Morisita</a:t>
                      </a:r>
                      <a:r>
                        <a:rPr lang="en-US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Relative abundance + Bray-Curtis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170510"/>
                  </a:ext>
                </a:extLst>
              </a:tr>
              <a:tr h="106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Relative abundance + </a:t>
                      </a:r>
                      <a:r>
                        <a:rPr lang="en-US" dirty="0" err="1"/>
                        <a:t>Morisita</a:t>
                      </a:r>
                      <a:r>
                        <a:rPr lang="en-US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CLR + 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271898"/>
                  </a:ext>
                </a:extLst>
              </a:tr>
              <a:tr h="1064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Relative abundance + </a:t>
                      </a:r>
                      <a:r>
                        <a:rPr lang="en-US" dirty="0" err="1"/>
                        <a:t>Morisita</a:t>
                      </a:r>
                      <a:r>
                        <a:rPr lang="en-US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rCLR</a:t>
                      </a:r>
                      <a:r>
                        <a:rPr lang="en-US" dirty="0"/>
                        <a:t> + 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816755"/>
                  </a:ext>
                </a:extLst>
              </a:tr>
              <a:tr h="431724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rCLR</a:t>
                      </a:r>
                      <a:r>
                        <a:rPr lang="en-US" dirty="0"/>
                        <a:t> + </a:t>
                      </a:r>
                      <a:r>
                        <a:rPr lang="en-US" dirty="0" err="1"/>
                        <a:t>Morisita</a:t>
                      </a:r>
                      <a:r>
                        <a:rPr lang="en-US" dirty="0"/>
                        <a:t>-Horn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rCLR</a:t>
                      </a:r>
                      <a:r>
                        <a:rPr lang="en-US" dirty="0"/>
                        <a:t> + Euclidean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765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5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0B9FB0-DA44-5560-A601-B3718CF0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15298" y="365125"/>
            <a:ext cx="7772400" cy="62179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57C482-B076-4BED-7AB9-A4C8227E7899}"/>
              </a:ext>
            </a:extLst>
          </p:cNvPr>
          <p:cNvSpPr txBox="1"/>
          <p:nvPr/>
        </p:nvSpPr>
        <p:spPr>
          <a:xfrm>
            <a:off x="155543" y="365125"/>
            <a:ext cx="395975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Panels A, B, and C compare the ordinations from the </a:t>
            </a:r>
            <a:r>
              <a:rPr lang="en-US" dirty="0">
                <a:highlight>
                  <a:srgbClr val="00FFFF"/>
                </a:highlight>
              </a:rPr>
              <a:t>original</a:t>
            </a:r>
            <a:r>
              <a:rPr lang="en-US" dirty="0"/>
              <a:t> transformation (relative abundance) + original dissimilarity metric (</a:t>
            </a:r>
            <a:r>
              <a:rPr lang="en-US" dirty="0" err="1"/>
              <a:t>Morisita</a:t>
            </a:r>
            <a:r>
              <a:rPr lang="en-US" dirty="0"/>
              <a:t>-Horn), against an </a:t>
            </a:r>
            <a:r>
              <a:rPr lang="en-US" dirty="0">
                <a:highlight>
                  <a:srgbClr val="00FF00"/>
                </a:highlight>
              </a:rPr>
              <a:t>alternative ordination</a:t>
            </a:r>
            <a:r>
              <a:rPr lang="en-US" dirty="0"/>
              <a:t>:</a:t>
            </a:r>
          </a:p>
          <a:p>
            <a:r>
              <a:rPr lang="en-US" dirty="0"/>
              <a:t>A. A routine transformation and dissimilarity metric (BC)</a:t>
            </a:r>
          </a:p>
          <a:p>
            <a:r>
              <a:rPr lang="en-US" dirty="0"/>
              <a:t>B. Reviewer suggested-transformation (CLR) + most appropriate dissimilarity metric (Euclidean);</a:t>
            </a:r>
          </a:p>
          <a:p>
            <a:r>
              <a:rPr lang="en-US" dirty="0"/>
              <a:t>C. Transformation recommended for data that have natural 0s, such as ASV data (</a:t>
            </a:r>
            <a:r>
              <a:rPr lang="en-US" dirty="0" err="1"/>
              <a:t>rCLR</a:t>
            </a:r>
            <a:r>
              <a:rPr lang="en-US" dirty="0"/>
              <a:t>), and the most appropriate metric for that transformation;</a:t>
            </a:r>
          </a:p>
          <a:p>
            <a:r>
              <a:rPr lang="en-US" dirty="0"/>
              <a:t>D. </a:t>
            </a:r>
            <a:r>
              <a:rPr lang="en-US" dirty="0">
                <a:highlight>
                  <a:srgbClr val="00FFFF"/>
                </a:highlight>
              </a:rPr>
              <a:t>A recommended transformation + dissimilarity metric</a:t>
            </a:r>
            <a:r>
              <a:rPr lang="en-US" dirty="0"/>
              <a:t>, against that </a:t>
            </a:r>
            <a:r>
              <a:rPr lang="en-US" dirty="0">
                <a:highlight>
                  <a:srgbClr val="00FF00"/>
                </a:highlight>
              </a:rPr>
              <a:t>recommended transformation + </a:t>
            </a:r>
            <a:r>
              <a:rPr lang="en-US" dirty="0" err="1">
                <a:highlight>
                  <a:srgbClr val="00FF00"/>
                </a:highlight>
              </a:rPr>
              <a:t>Morisita</a:t>
            </a:r>
            <a:r>
              <a:rPr lang="en-US" dirty="0">
                <a:highlight>
                  <a:srgbClr val="00FF00"/>
                </a:highlight>
              </a:rPr>
              <a:t>-Horn</a:t>
            </a:r>
            <a:r>
              <a:rPr lang="en-US" dirty="0"/>
              <a:t>, which is not recommended for data with negative entries such as that obtained with a CLR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406709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5316-9C16-67A3-2326-B0D30023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6548"/>
          </a:xfrm>
        </p:spPr>
        <p:txBody>
          <a:bodyPr>
            <a:normAutofit/>
          </a:bodyPr>
          <a:lstStyle/>
          <a:p>
            <a:r>
              <a:rPr lang="en-US" sz="2800" dirty="0"/>
              <a:t>Impact of ordination choice on adonis2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D58FB-C79D-4DFD-6243-6FB5DEA8F719}"/>
              </a:ext>
            </a:extLst>
          </p:cNvPr>
          <p:cNvSpPr txBox="1"/>
          <p:nvPr/>
        </p:nvSpPr>
        <p:spPr>
          <a:xfrm>
            <a:off x="442711" y="991674"/>
            <a:ext cx="11306578" cy="2708434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Permutation test for adonis under reduced model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Terms added sequentially (first to last)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Permutation: free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permutations: 999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vegan::adonis2(formula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dist_mh_usvi_asv.d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sampling_time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sampling_day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 site +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sampling_day:site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sampling_time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data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meta.microb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permutations = 999, method = "horn", by = "terms", parallel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nthreads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SumOfSqs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R2       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(&gt;F)    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sampling_time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1  0.07471 0.06034 15.6914  0.001 ***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sampling_day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3  0.10842 0.08757  7.5906  0.001 ***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site                             2  0.74508 0.60182 78.2471  0.001 ***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sampling_day:site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6  0.06811 0.05502  2.3843  0.049 *  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sampling_time:sampling_day:site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11  0.01796 0.01451  0.3430  0.953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                       47  0.22377 0.18074               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Total                           70  1.23805 1.00000               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6A4BB-42D1-6493-55B5-98119F872700}"/>
              </a:ext>
            </a:extLst>
          </p:cNvPr>
          <p:cNvSpPr txBox="1"/>
          <p:nvPr/>
        </p:nvSpPr>
        <p:spPr>
          <a:xfrm>
            <a:off x="442711" y="4058254"/>
            <a:ext cx="11306578" cy="270843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Permutation test for adonis under reduced model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Terms added sequentially (first to last)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Permutation: free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permutations: 999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vegan::adonis2(formula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dist_rclr_usvi_asv.d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sampling_time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sampling_day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+ site +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sampling_day:site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sampling_time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data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meta.microb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permutations = 999, method =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euclidean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", by = "terms", parallel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nthreads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SumOfSqs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R2       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(&gt;F)    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sampling_time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1    466.2 0.02861  5.9322  0.007 ** 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sampling_day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3   2800.8 0.17188 11.8791  0.001 ***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site                             2   7908.1 0.48531 50.3112  0.001 ***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sampling_day:site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6    757.0 0.04646  1.6054  0.099 .  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sampling_time:sampling_day:site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11    668.9 0.04105  0.7737  0.736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                       47   3693.8 0.22669               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Total                           70  16294.9 1.00000               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51DDE-F7EC-818B-0777-ABC890A9291C}"/>
              </a:ext>
            </a:extLst>
          </p:cNvPr>
          <p:cNvSpPr txBox="1"/>
          <p:nvPr/>
        </p:nvSpPr>
        <p:spPr>
          <a:xfrm>
            <a:off x="7495504" y="2345891"/>
            <a:ext cx="3768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Sanity check: for the </a:t>
            </a:r>
            <a:r>
              <a:rPr lang="en-US" i="1" dirty="0" err="1"/>
              <a:t>Morisita</a:t>
            </a:r>
            <a:r>
              <a:rPr lang="en-US" i="1" dirty="0"/>
              <a:t>-Horn distance matrix on ASVs, these are the same results presented in the manuscript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1A713-9D0E-3AC8-6075-0FDA068F1BF0}"/>
              </a:ext>
            </a:extLst>
          </p:cNvPr>
          <p:cNvSpPr txBox="1"/>
          <p:nvPr/>
        </p:nvSpPr>
        <p:spPr>
          <a:xfrm>
            <a:off x="7263683" y="5292545"/>
            <a:ext cx="3580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Using </a:t>
            </a:r>
            <a:r>
              <a:rPr lang="en-US" i="1" dirty="0" err="1"/>
              <a:t>rCLR</a:t>
            </a:r>
            <a:r>
              <a:rPr lang="en-US" i="1" dirty="0"/>
              <a:t> ordination and Euclidean distance, </a:t>
            </a:r>
            <a:r>
              <a:rPr lang="en-US" b="1" i="1" dirty="0"/>
              <a:t>site, day, and time are still significant terms</a:t>
            </a:r>
            <a:r>
              <a:rPr lang="en-US" i="1" dirty="0"/>
              <a:t> in adonis2 PERMANOVA.</a:t>
            </a:r>
          </a:p>
        </p:txBody>
      </p:sp>
    </p:spTree>
    <p:extLst>
      <p:ext uri="{BB962C8B-B14F-4D97-AF65-F5344CB8AC3E}">
        <p14:creationId xmlns:p14="http://schemas.microsoft.com/office/powerpoint/2010/main" val="969156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C063-9095-AA95-C8FD-BE04E28A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variation in adonis2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E9D438-FF97-9461-10EA-E5E0FD0BE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118762"/>
              </p:ext>
            </p:extLst>
          </p:nvPr>
        </p:nvGraphicFramePr>
        <p:xfrm>
          <a:off x="717192" y="1690687"/>
          <a:ext cx="5863912" cy="4194960"/>
        </p:xfrm>
        <a:graphic>
          <a:graphicData uri="http://schemas.openxmlformats.org/drawingml/2006/table">
            <a:tbl>
              <a:tblPr/>
              <a:tblGrid>
                <a:gridCol w="2289267">
                  <a:extLst>
                    <a:ext uri="{9D8B030D-6E8A-4147-A177-3AD203B41FA5}">
                      <a16:colId xmlns:a16="http://schemas.microsoft.com/office/drawing/2014/main" val="4265612780"/>
                    </a:ext>
                  </a:extLst>
                </a:gridCol>
                <a:gridCol w="1816005">
                  <a:extLst>
                    <a:ext uri="{9D8B030D-6E8A-4147-A177-3AD203B41FA5}">
                      <a16:colId xmlns:a16="http://schemas.microsoft.com/office/drawing/2014/main" val="3522645646"/>
                    </a:ext>
                  </a:extLst>
                </a:gridCol>
                <a:gridCol w="1758640">
                  <a:extLst>
                    <a:ext uri="{9D8B030D-6E8A-4147-A177-3AD203B41FA5}">
                      <a16:colId xmlns:a16="http://schemas.microsoft.com/office/drawing/2014/main" val="594066709"/>
                    </a:ext>
                  </a:extLst>
                </a:gridCol>
              </a:tblGrid>
              <a:tr h="419496"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b="1" dirty="0"/>
                        <a:t>Source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b="1" dirty="0"/>
                        <a:t>% of variation explained in model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286260"/>
                  </a:ext>
                </a:extLst>
              </a:tr>
              <a:tr h="4194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b="1" dirty="0" err="1"/>
                        <a:t>Morisita</a:t>
                      </a:r>
                      <a:r>
                        <a:rPr lang="en-US" b="1" dirty="0"/>
                        <a:t>-Horn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b="1" dirty="0" err="1"/>
                        <a:t>rCLR</a:t>
                      </a:r>
                      <a:endParaRPr lang="en-US" b="1" dirty="0"/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331499"/>
                  </a:ext>
                </a:extLst>
              </a:tr>
              <a:tr h="4194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Site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47.3%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dirty="0"/>
                        <a:t>44.0%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991651"/>
                  </a:ext>
                </a:extLst>
              </a:tr>
              <a:tr h="4194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Time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21.2%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dirty="0"/>
                        <a:t>15.1%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420238"/>
                  </a:ext>
                </a:extLst>
              </a:tr>
              <a:tr h="4194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Day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14.7%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dirty="0"/>
                        <a:t>21.4%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436258"/>
                  </a:ext>
                </a:extLst>
              </a:tr>
              <a:tr h="4194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Day x Site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8.3%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dirty="0"/>
                        <a:t>7.9%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586858"/>
                  </a:ext>
                </a:extLst>
              </a:tr>
              <a:tr h="4194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Time x Day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3.1%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dirty="0"/>
                        <a:t>5.5%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454119"/>
                  </a:ext>
                </a:extLst>
              </a:tr>
              <a:tr h="4194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Time x Site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840774"/>
                  </a:ext>
                </a:extLst>
              </a:tr>
              <a:tr h="4194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Time x Day x Site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536927"/>
                  </a:ext>
                </a:extLst>
              </a:tr>
              <a:tr h="4194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Residual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/>
                        <a:t>5.3%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dirty="0"/>
                        <a:t>6.2%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8841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ECEDED-C65E-898F-60BC-6C1018F0799C}"/>
              </a:ext>
            </a:extLst>
          </p:cNvPr>
          <p:cNvSpPr txBox="1"/>
          <p:nvPr/>
        </p:nvSpPr>
        <p:spPr>
          <a:xfrm>
            <a:off x="6748530" y="1970467"/>
            <a:ext cx="41727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Terms in the adonis2 model using </a:t>
            </a:r>
            <a:r>
              <a:rPr lang="en-US" dirty="0" err="1"/>
              <a:t>rCLR</a:t>
            </a:r>
            <a:r>
              <a:rPr lang="en-US" dirty="0"/>
              <a:t> + Euclidean transformations of ASV data explain similar percentages of variation, as when we used ASV data transformed via Relative abundance + </a:t>
            </a:r>
            <a:r>
              <a:rPr lang="en-US" dirty="0" err="1"/>
              <a:t>Morisita</a:t>
            </a:r>
            <a:r>
              <a:rPr lang="en-US" dirty="0"/>
              <a:t>-Horn.</a:t>
            </a:r>
          </a:p>
        </p:txBody>
      </p:sp>
    </p:spTree>
    <p:extLst>
      <p:ext uri="{BB962C8B-B14F-4D97-AF65-F5344CB8AC3E}">
        <p14:creationId xmlns:p14="http://schemas.microsoft.com/office/powerpoint/2010/main" val="200085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3D55-B8F8-3002-C9A6-7F0EC4E8C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814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Overlaying ASVs on NMDS</a:t>
            </a:r>
          </a:p>
        </p:txBody>
      </p:sp>
      <p:pic>
        <p:nvPicPr>
          <p:cNvPr id="4" name="Picture 3" descr="A screen shot of a diagram&#10;&#10;AI-generated content may be incorrect.">
            <a:extLst>
              <a:ext uri="{FF2B5EF4-FFF2-40B4-BE49-F238E27FC236}">
                <a16:creationId xmlns:a16="http://schemas.microsoft.com/office/drawing/2014/main" id="{A40F1FAD-41CB-9D57-9621-77228FDCA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65125"/>
            <a:ext cx="7772400" cy="62179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69A12D-72A5-9489-6784-E14956B38178}"/>
              </a:ext>
            </a:extLst>
          </p:cNvPr>
          <p:cNvSpPr txBox="1"/>
          <p:nvPr/>
        </p:nvSpPr>
        <p:spPr>
          <a:xfrm>
            <a:off x="683653" y="1690688"/>
            <a:ext cx="34247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rCLR</a:t>
            </a:r>
            <a:r>
              <a:rPr lang="en-US" dirty="0"/>
              <a:t> and CLR generate distance matrices with negative values, so vegan::</a:t>
            </a:r>
            <a:r>
              <a:rPr lang="en-US" dirty="0" err="1"/>
              <a:t>metaMDS</a:t>
            </a:r>
            <a:r>
              <a:rPr lang="en-US" dirty="0"/>
              <a:t> output does not include NMDS coordinates for ASVs.</a:t>
            </a:r>
          </a:p>
          <a:p>
            <a:endParaRPr lang="en-US" dirty="0"/>
          </a:p>
          <a:p>
            <a:r>
              <a:rPr lang="en-US" dirty="0"/>
              <a:t>The NMDS models that used relative abundances of ASVs </a:t>
            </a:r>
            <a:r>
              <a:rPr lang="en-US" i="1" dirty="0"/>
              <a:t>without further transformation, </a:t>
            </a:r>
            <a:r>
              <a:rPr lang="en-US" dirty="0"/>
              <a:t>and any of the tested distance metrics (e.g. </a:t>
            </a:r>
            <a:r>
              <a:rPr lang="en-US" dirty="0" err="1"/>
              <a:t>Morisita</a:t>
            </a:r>
            <a:r>
              <a:rPr lang="en-US" dirty="0"/>
              <a:t>-Horn, Bray-Curtis, Euclidean), provided coordinates for ASVs.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BA8C16-15D6-DCFE-92E7-6FB368500476}"/>
              </a:ext>
            </a:extLst>
          </p:cNvPr>
          <p:cNvSpPr txBox="1"/>
          <p:nvPr/>
        </p:nvSpPr>
        <p:spPr>
          <a:xfrm>
            <a:off x="579549" y="5550795"/>
            <a:ext cx="3528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Right: the 36 most abundant SDA ASVs overlaid on NMDS, colored by taxonomic order. </a:t>
            </a:r>
          </a:p>
        </p:txBody>
      </p:sp>
    </p:spTree>
    <p:extLst>
      <p:ext uri="{BB962C8B-B14F-4D97-AF65-F5344CB8AC3E}">
        <p14:creationId xmlns:p14="http://schemas.microsoft.com/office/powerpoint/2010/main" val="7689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5617</TotalTime>
  <Words>1213</Words>
  <Application>Microsoft Macintosh PowerPoint</Application>
  <PresentationFormat>Widescreen</PresentationFormat>
  <Paragraphs>204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Office Theme</vt:lpstr>
      <vt:lpstr>Alternative statistical handling of ASV data for USVI spatiotemporal study</vt:lpstr>
      <vt:lpstr>Background</vt:lpstr>
      <vt:lpstr>Feedback from reviewers recommended alternative data transformations</vt:lpstr>
      <vt:lpstr>Compare NMDS results from different data transformations and dissimilarity metrics</vt:lpstr>
      <vt:lpstr>CLR sucks</vt:lpstr>
      <vt:lpstr>rCLR + Euclidean distance</vt:lpstr>
      <vt:lpstr>PowerPoint Presentation</vt:lpstr>
      <vt:lpstr>Comparing significant differences in ordinations: Procrustes </vt:lpstr>
      <vt:lpstr>Curated Procrustes results</vt:lpstr>
      <vt:lpstr>PowerPoint Presentation</vt:lpstr>
      <vt:lpstr>Impact of ordination choice on adonis2 results</vt:lpstr>
      <vt:lpstr>Components of variation in adonis2 model</vt:lpstr>
      <vt:lpstr>Overlaying ASVs on NMDS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Sharon Grim</dc:creator>
  <cp:lastModifiedBy>Sharon Grim</cp:lastModifiedBy>
  <cp:revision>8</cp:revision>
  <dcterms:created xsi:type="dcterms:W3CDTF">2026-04-16T18:22:40Z</dcterms:created>
  <dcterms:modified xsi:type="dcterms:W3CDTF">2026-04-20T16:00:01Z</dcterms:modified>
</cp:coreProperties>
</file>